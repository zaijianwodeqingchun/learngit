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、開発補助AIの取り組みについてご報告します。本ツールは、設計書と規約を参照しながら、開発中の確認作業をAIで支援するものです。まず、なぜこのツールを作ったのか、次に仕組みと4つの機能、最後にデモと評価の進め方をご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本報告は6つのセクションで構成しています。まず背景を整理し、次にソリューションの全体像と技術構成、4つの機能、ローカル完結のセキュリティ設計、デモ、最後に評価設計とまとめをお伝えします。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報告の要点は3点です。1点目は、開発画面からショートカットでAIを呼び出せること。2点目は、設計書や規約をRAGで検索し、その内容を踏まえて回答すること。3点目は、設計書・コード・エラー出力を外部クラウドに送らず、ローカル環境で扱うことです。以降、この3点を順に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発中には、設計書との一致、規約の遵守、エラーの原因という3つの確認が発生します。いずれも、設計書・規約・実行ログといった社内情報を参照する必要があります。本ツールは、この参照をショートカットから行えるよう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ツールの機能は4つです。設計書との整合チェック、規約に沿った実装支援、エラー出力の解析、設計書の更新への追随です。これらは個別のツールではなく、Everywhere、MCP、RAGFlow、ローカルLLMという共通基盤の上で動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の流れはシンプルです。開発画面でショートカットを押し、質問を入力し、回答を確認して実装に戻ります。エラーが出ている場合は、開いているエディタとバックグラウンドのエラー出力を対象に質問できます。画面を大きく切り替える必要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ーキテクチャは、入力・処理・出力の3層です。入力はショートカット、設計書・規約、コード・エラー出力です。処理はEverywhereからMCPを経由し、RAGFlowとローカルLLMに接続します。出力は整合チェックの結果、実装方針、原因候補と修正方針です。RAGFlowはDockerで起動し、設計書はベクトルDBに格納します。処理はすべてローカル環境で完結さ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つ目と2つ目の機能です。設計書との整合チェックでは、設計書を検索し、対象コードとの不一致点を確認します。規約に沿った実装支援では、規約ファイルを検索し、その内容を踏まえた実装方針を回答します。どちらも、RAGに登録した社内ファイルを根拠にするため、会話のたびに全文を貼り付ける必要が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と4つ目の機能です。エラー解析では、ショートカットでAIを起動し、現在のエディタとバックグラウンドのエラー出力を読み取ります。設計書が更新された場合は、RAG上で最新版を検索し、コードとの差分と修正方針を確認します。エラー対応と設計変更を、同じ操作で扱えることが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性についてです。本構成では、設計書・コード・エラー出力を外部クラウドに送らないことを前提としています。推論はOllamaなどのローカルモデル、検索はDocker上のRAGFlow、保存はローカル環境です。EverywhereにはローカルモデルのURLを設定して使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では、4つの機能を一続きで確認します。ショートカットで起動し、設計書との差分を質問し、エラー出力を解析し、最後に設計書の更新を反映する流れです。本ページは進行を示す構成図で、実際の画面はデモでご覧いただ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は、本ツールを使わない現行プロセスをベースラインに置き、同じタスクで比較します。指標は、確認にかかる時間、見落とし件数、原因特定までの時間、修正漏れ件数です。現時点では定量結果を取得していないため、本ページでは測定方法とベースラインの定義のみを示しています。結果が揃った段階で、ベースラインをグレー、本ツールをブルーにした比較棒グラフで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本ツールは、開発画面からAIを呼び出し、設計書と規約を根拠に回答し、ローカル環境で処理を完結させます。設計書とコードの距離を縮め、開発中の確認を支援する取り組みです。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978408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6675120" y="914400"/>
            <a:ext cx="5516575" cy="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675120" y="1828800"/>
            <a:ext cx="5516575" cy="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675120" y="2743200"/>
            <a:ext cx="5516575" cy="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675120" y="3657600"/>
            <a:ext cx="5516575" cy="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675120" y="4572000"/>
            <a:ext cx="5516575" cy="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675120" y="5486400"/>
            <a:ext cx="5516575" cy="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7635240" y="502920"/>
            <a:ext cx="3794760" cy="3794760"/>
          </a:xfrm>
          <a:prstGeom prst="ellipse">
            <a:avLst/>
          </a:prstGeom>
          <a:noFill/>
          <a:ln w="11430">
            <a:solidFill>
              <a:srgbClr val="173A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79" y="1051560"/>
            <a:ext cx="2697480" cy="2697480"/>
          </a:xfrm>
          <a:prstGeom prst="ellipse">
            <a:avLst/>
          </a:prstGeom>
          <a:noFill/>
          <a:ln w="11430">
            <a:solidFill>
              <a:srgbClr val="1E4E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81160" y="713232"/>
            <a:ext cx="91440" cy="91440"/>
          </a:xfrm>
          <a:prstGeom prst="ellipse">
            <a:avLst/>
          </a:prstGeom>
          <a:solidFill>
            <a:srgbClr val="19A3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55680" y="2011680"/>
            <a:ext cx="73152" cy="73152"/>
          </a:xfrm>
          <a:prstGeom prst="ellipse">
            <a:avLst/>
          </a:prstGeom>
          <a:solidFill>
            <a:srgbClr val="FFC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18120" y="3886200"/>
            <a:ext cx="73152" cy="73152"/>
          </a:xfrm>
          <a:prstGeom prst="ellipse">
            <a:avLst/>
          </a:prstGeom>
          <a:solidFill>
            <a:srgbClr val="19A3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18520" y="4160520"/>
            <a:ext cx="91440" cy="91440"/>
          </a:xfrm>
          <a:prstGeom prst="ellipse">
            <a:avLst/>
          </a:prstGeom>
          <a:solidFill>
            <a:srgbClr val="3F8A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59952" y="1627632"/>
            <a:ext cx="1545336" cy="1545336"/>
          </a:xfrm>
          <a:prstGeom prst="roundRect">
            <a:avLst>
              <a:gd name="adj" fmla="val 13000"/>
            </a:avLst>
          </a:prstGeom>
          <a:solidFill>
            <a:srgbClr val="0B1D38"/>
          </a:solidFill>
          <a:ln w="13970">
            <a:solidFill>
              <a:srgbClr val="3B7D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1792224"/>
            <a:ext cx="1545336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788920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lang="ja-JP" spc="120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SHORTCUT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20624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ja-JP" spc="1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NTT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1133856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 lang="ja-JP" spc="90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AIコンテスト  最終報告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6384" y="1517904"/>
            <a:ext cx="694944" cy="0"/>
          </a:xfrm>
          <a:prstGeom prst="line">
            <a:avLst/>
          </a:prstGeom>
          <a:ln w="25400">
            <a:solidFill>
              <a:srgbClr val="FFC400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86384" y="1682496"/>
            <a:ext cx="5852160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開発補助AI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74320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設計書と規約を根拠に、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開発中の確認を支援するローカルAI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6384" y="3968496"/>
            <a:ext cx="2459736" cy="0"/>
          </a:xfrm>
          <a:prstGeom prst="line">
            <a:avLst/>
          </a:prstGeom>
          <a:ln w="11430">
            <a:solidFill>
              <a:srgbClr val="2A4A68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86384" y="4178808"/>
            <a:ext cx="58064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9FB6CA"/>
                </a:solidFill>
                <a:latin typeface="Yu Gothic"/>
                <a:ea typeface="Yu Gothic"/>
                <a:cs typeface="Yu Gothic"/>
              </a:rPr>
              <a:t>設計書・規約・エラー出力を、開発画面から直接参照。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9FB6CA"/>
                </a:solidFill>
                <a:latin typeface="Yu Gothic"/>
                <a:ea typeface="Yu Gothic"/>
                <a:cs typeface="Yu Gothic"/>
              </a:rPr>
              <a:t>処理はローカル環境で完結させます。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650992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961888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ja-JP">
                <a:solidFill>
                  <a:srgbClr val="7F9AB2"/>
                </a:solidFill>
                <a:latin typeface="Yu Gothic"/>
                <a:ea typeface="Yu Gothic"/>
                <a:cs typeface="Yu Gothic"/>
              </a:rPr>
              <a:t>2026年10月18日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37392" y="6291072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ja-JP">
                <a:solidFill>
                  <a:srgbClr val="5A7894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本報告の構成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6つのセクションで構成しています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83664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85623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92808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開発中の3つの確認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1883664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2450592"/>
            <a:ext cx="10671048" cy="0"/>
          </a:xfrm>
          <a:prstGeom prst="line">
            <a:avLst/>
          </a:prstGeom>
          <a:ln w="8255">
            <a:solidFill>
              <a:srgbClr val="DDE3E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13232" y="2542032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51460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ソリューション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551176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全体像・利用イメージ・アーキテクチャ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254203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05–07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108960"/>
            <a:ext cx="10671048" cy="0"/>
          </a:xfrm>
          <a:prstGeom prst="line">
            <a:avLst/>
          </a:prstGeom>
          <a:ln w="8255">
            <a:solidFill>
              <a:srgbClr val="DDE3EA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13232" y="320040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17296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209544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設計書・規約 / エラー・設計変更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3200400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08–09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" y="3767328"/>
            <a:ext cx="10671048" cy="0"/>
          </a:xfrm>
          <a:prstGeom prst="line">
            <a:avLst/>
          </a:prstGeom>
          <a:ln w="8255">
            <a:solidFill>
              <a:srgbClr val="DDE3EA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13232" y="3858768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383133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セキュリティ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867912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ローカル完結の設計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3858768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4425696"/>
            <a:ext cx="10671048" cy="0"/>
          </a:xfrm>
          <a:prstGeom prst="line">
            <a:avLst/>
          </a:prstGeom>
          <a:ln w="8255">
            <a:solidFill>
              <a:srgbClr val="DDE3EA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13232" y="4517136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48970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デモ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526280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4つの支援を一続きで確認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4517136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3232" y="5084064"/>
            <a:ext cx="10671048" cy="0"/>
          </a:xfrm>
          <a:prstGeom prst="line">
            <a:avLst/>
          </a:prstGeom>
          <a:ln w="8255">
            <a:solidFill>
              <a:srgbClr val="DDE3EA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713232" y="5175504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514807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評価・まとめ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184648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評価設計 / まとめ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5175504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12–13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3232" y="5742431"/>
            <a:ext cx="10671048" cy="0"/>
          </a:xfrm>
          <a:prstGeom prst="line">
            <a:avLst/>
          </a:prstGeom>
          <a:ln w="8255">
            <a:solidFill>
              <a:srgbClr val="DDE3EA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713232" y="5925312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背景 → ソリューション → 機能 → デモ → 評価 → 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はじめに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本報告の要点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開発中の確認を、AIとの対話で完結させる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47088"/>
            <a:ext cx="3337560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50392" y="1865376"/>
            <a:ext cx="3008376" cy="0"/>
          </a:xfrm>
          <a:prstGeom prst="line">
            <a:avLst/>
          </a:prstGeom>
          <a:ln w="30480">
            <a:solidFill>
              <a:srgbClr val="0072B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14400" y="2029968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すぐ呼び出せる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設定したショートカットで、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開発画面からAIを起動。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847088"/>
            <a:ext cx="3337560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480559" y="1865376"/>
            <a:ext cx="3008377" cy="0"/>
          </a:xfrm>
          <a:prstGeom prst="line">
            <a:avLst/>
          </a:prstGeom>
          <a:ln w="30480">
            <a:solidFill>
              <a:srgbClr val="19A3FC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544568" y="2029968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ja-JP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4505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社内情報を参照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944368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設計書・規約をRAGで検索し、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回答に反映。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6136" y="1847088"/>
            <a:ext cx="3337560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110727" y="1865376"/>
            <a:ext cx="3008377" cy="0"/>
          </a:xfrm>
          <a:prstGeom prst="line">
            <a:avLst/>
          </a:prstGeom>
          <a:ln w="30480">
            <a:solidFill>
              <a:srgbClr val="E8A13B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174736" y="2029968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ja-JP">
                <a:solidFill>
                  <a:srgbClr val="E8A13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4505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ローカルで完結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944368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設計書・コード・エラー出力を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外部クラウドに送らない。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53712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キーボードから呼び出し、社内情報を根拠に答え、ローカルの外に出さない。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5102352"/>
            <a:ext cx="10799064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85800" y="5248656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本報告では、この3点を軸に説明します。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 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開発中の3つの確認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設計書・規約・エラー出力を、その都度たどる必要があります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47088"/>
            <a:ext cx="3337560" cy="2880360"/>
          </a:xfrm>
          <a:prstGeom prst="roundRect">
            <a:avLst>
              <a:gd name="adj" fmla="val 35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50392" y="1865376"/>
            <a:ext cx="3008376" cy="0"/>
          </a:xfrm>
          <a:prstGeom prst="line">
            <a:avLst/>
          </a:prstGeom>
          <a:ln w="30480">
            <a:solidFill>
              <a:srgbClr val="0072B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14400" y="20116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設計書との一致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55264"/>
            <a:ext cx="278892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実装は、設計書の意図と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合っているか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4297680"/>
            <a:ext cx="2862072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914400" y="4416552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参照：設計書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847088"/>
            <a:ext cx="3337560" cy="2880360"/>
          </a:xfrm>
          <a:prstGeom prst="roundRect">
            <a:avLst>
              <a:gd name="adj" fmla="val 35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462272" y="1865376"/>
            <a:ext cx="3008376" cy="0"/>
          </a:xfrm>
          <a:prstGeom prst="line">
            <a:avLst/>
          </a:prstGeom>
          <a:ln w="30480">
            <a:solidFill>
              <a:srgbClr val="19A3FC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526280" y="20116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974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規約の遵守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255264"/>
            <a:ext cx="278892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プロジェクトの書き方に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沿っているか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26280" y="4297680"/>
            <a:ext cx="2862072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526280" y="4416552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参照：規約ファイル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1847088"/>
            <a:ext cx="3337560" cy="2880360"/>
          </a:xfrm>
          <a:prstGeom prst="roundRect">
            <a:avLst>
              <a:gd name="adj" fmla="val 35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74152" y="1865376"/>
            <a:ext cx="3008376" cy="0"/>
          </a:xfrm>
          <a:prstGeom prst="line">
            <a:avLst/>
          </a:prstGeom>
          <a:ln w="30480">
            <a:solidFill>
              <a:srgbClr val="E8A13B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138160" y="20116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E8A13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6974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エラーの原因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255264"/>
            <a:ext cx="278892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いま出ているエラーを、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どう解消するか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38160" y="4297680"/>
            <a:ext cx="2862072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8138160" y="4416552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参照：エラー出力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74920"/>
            <a:ext cx="10844784" cy="932688"/>
          </a:xfrm>
          <a:prstGeom prst="roundRect">
            <a:avLst>
              <a:gd name="adj" fmla="val 2000"/>
            </a:avLst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074920"/>
            <a:ext cx="64008" cy="932688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21208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3つに共通するのは、社内の設計書・規約・ログを参照する必要があることです。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6052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その参照を、ショートカットから行えるようにします。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02  ソリューション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開発補助AIの全体像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4つの支援機能を、共通のローカル基盤にまとめる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47088"/>
            <a:ext cx="5175504" cy="14447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50392" y="1865376"/>
            <a:ext cx="4846320" cy="0"/>
          </a:xfrm>
          <a:prstGeom prst="line">
            <a:avLst/>
          </a:prstGeom>
          <a:ln w="27940">
            <a:solidFill>
              <a:srgbClr val="0072B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05256" y="1984248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75104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設計書との整合チェック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68880"/>
            <a:ext cx="41605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設計書を検索し、コードとの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不一致点を確認。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2472" y="1847088"/>
            <a:ext cx="5175504" cy="14447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227064" y="1865376"/>
            <a:ext cx="4846320" cy="0"/>
          </a:xfrm>
          <a:prstGeom prst="line">
            <a:avLst/>
          </a:prstGeom>
          <a:ln w="27940">
            <a:solidFill>
              <a:srgbClr val="19A3FC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281928" y="1984248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1975104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規約に沿った実装支援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468880"/>
            <a:ext cx="41605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規約ファイルを参照し、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実装方針を回答。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19856"/>
            <a:ext cx="5175504" cy="14447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50392" y="3438144"/>
            <a:ext cx="4846320" cy="0"/>
          </a:xfrm>
          <a:prstGeom prst="line">
            <a:avLst/>
          </a:prstGeom>
          <a:ln w="27940">
            <a:solidFill>
              <a:srgbClr val="E8A13B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905256" y="3557016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>
                <a:solidFill>
                  <a:srgbClr val="E8A13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547872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エラー出力の即時解析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41648"/>
            <a:ext cx="41605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開いているエディタと、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エラー出力を読み取る。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62472" y="3419856"/>
            <a:ext cx="5175504" cy="14447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227064" y="3438144"/>
            <a:ext cx="4846320" cy="0"/>
          </a:xfrm>
          <a:prstGeom prst="line">
            <a:avLst/>
          </a:prstGeom>
          <a:ln w="27940">
            <a:solidFill>
              <a:srgbClr val="005B9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281928" y="3557016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3547872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設計書更新への追随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4041648"/>
            <a:ext cx="41605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最新版の設計書を検索し、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修正方針を提示。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5102352"/>
            <a:ext cx="10799064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85800" y="523036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共通基盤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83080" y="516636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5170932"/>
            <a:ext cx="1481328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Everywhere 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64992" y="516636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64992" y="5170932"/>
            <a:ext cx="786384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MCP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5166360"/>
            <a:ext cx="1152144" cy="347472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5170932"/>
            <a:ext cx="1152144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RAGFlow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04688" y="516636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04688" y="5170932"/>
            <a:ext cx="2331720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Local LLM（Ollama など）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6692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4つの機能は、同じ基盤の上で動作します。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02  ソリューション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利用イメージ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開発画面の上で呼び出し、回答を確認したらすぐ戻る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47088"/>
            <a:ext cx="6199632" cy="4133087"/>
          </a:xfrm>
          <a:prstGeom prst="roundRect">
            <a:avLst>
              <a:gd name="adj" fmla="val 2500"/>
            </a:avLst>
          </a:prstGeom>
          <a:solidFill>
            <a:srgbClr val="0D1727"/>
          </a:solidFill>
          <a:ln w="9525">
            <a:solidFill>
              <a:srgbClr val="2438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47088"/>
            <a:ext cx="6199632" cy="347472"/>
          </a:xfrm>
          <a:prstGeom prst="rect">
            <a:avLst/>
          </a:prstGeom>
          <a:solidFill>
            <a:srgbClr val="101E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956816"/>
            <a:ext cx="68580" cy="68580"/>
          </a:xfrm>
          <a:prstGeom prst="ellipse">
            <a:avLst/>
          </a:prstGeom>
          <a:solidFill>
            <a:srgbClr val="5B6B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9576" y="1956816"/>
            <a:ext cx="68580" cy="68580"/>
          </a:xfrm>
          <a:prstGeom prst="ellipse">
            <a:avLst/>
          </a:prstGeom>
          <a:solidFill>
            <a:srgbClr val="5B6B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5024" y="1956816"/>
            <a:ext cx="68580" cy="68580"/>
          </a:xfrm>
          <a:prstGeom prst="ellipse">
            <a:avLst/>
          </a:prstGeom>
          <a:solidFill>
            <a:srgbClr val="5B6B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911095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コード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911095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>
                <a:solidFill>
                  <a:srgbClr val="6E8195"/>
                </a:solidFill>
                <a:latin typeface="Yu Gothic"/>
                <a:ea typeface="Yu Gothic"/>
                <a:cs typeface="Yu Gothic"/>
              </a:rPr>
              <a:t>エラー出力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194560"/>
            <a:ext cx="950976" cy="3785615"/>
          </a:xfrm>
          <a:prstGeom prst="rect">
            <a:avLst/>
          </a:prstGeom>
          <a:solidFill>
            <a:srgbClr val="0A13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24128" y="2359152"/>
            <a:ext cx="566928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024128" y="2688336"/>
            <a:ext cx="411480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024128" y="3017520"/>
            <a:ext cx="411480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024128" y="3346704"/>
            <a:ext cx="566928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024128" y="3675887"/>
            <a:ext cx="411480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024128" y="4005072"/>
            <a:ext cx="411480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1024128" y="4334256"/>
            <a:ext cx="566928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1024128" y="4663440"/>
            <a:ext cx="411480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1024128" y="4992624"/>
            <a:ext cx="411480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1024128" y="5321808"/>
            <a:ext cx="566928" cy="0"/>
          </a:xfrm>
          <a:prstGeom prst="line">
            <a:avLst/>
          </a:prstGeom>
          <a:ln w="29209">
            <a:solidFill>
              <a:srgbClr val="2A3C5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1938528" y="232714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2340864"/>
            <a:ext cx="2560320" cy="68580"/>
          </a:xfrm>
          <a:prstGeom prst="rect">
            <a:avLst/>
          </a:prstGeom>
          <a:solidFill>
            <a:srgbClr val="5E88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38528" y="2542032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67712" y="2555748"/>
            <a:ext cx="2011680" cy="68580"/>
          </a:xfrm>
          <a:prstGeom prst="rect">
            <a:avLst/>
          </a:prstGeom>
          <a:solidFill>
            <a:srgbClr val="7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8528" y="2756916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67712" y="2770632"/>
            <a:ext cx="3108960" cy="68580"/>
          </a:xfrm>
          <a:prstGeom prst="rect">
            <a:avLst/>
          </a:prstGeom>
          <a:solidFill>
            <a:srgbClr val="4E7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67712" y="2770632"/>
            <a:ext cx="3108960" cy="68580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38528" y="2971800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67712" y="2985516"/>
            <a:ext cx="1554480" cy="68580"/>
          </a:xfrm>
          <a:prstGeom prst="rect">
            <a:avLst/>
          </a:prstGeom>
          <a:solidFill>
            <a:srgbClr val="8BA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38528" y="3186684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3200400"/>
            <a:ext cx="2743200" cy="68580"/>
          </a:xfrm>
          <a:prstGeom prst="rect">
            <a:avLst/>
          </a:prstGeom>
          <a:solidFill>
            <a:srgbClr val="5E88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38528" y="340156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67712" y="3415284"/>
            <a:ext cx="2194560" cy="68580"/>
          </a:xfrm>
          <a:prstGeom prst="rect">
            <a:avLst/>
          </a:prstGeom>
          <a:solidFill>
            <a:srgbClr val="4E7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38528" y="3616451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67712" y="3630168"/>
            <a:ext cx="3383280" cy="68580"/>
          </a:xfrm>
          <a:prstGeom prst="rect">
            <a:avLst/>
          </a:prstGeom>
          <a:solidFill>
            <a:srgbClr val="8BA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67712" y="3630168"/>
            <a:ext cx="3383280" cy="68580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38528" y="3831336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67712" y="3845052"/>
            <a:ext cx="1828800" cy="68580"/>
          </a:xfrm>
          <a:prstGeom prst="rect">
            <a:avLst/>
          </a:prstGeom>
          <a:solidFill>
            <a:srgbClr val="5E88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38528" y="4046220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67712" y="4059935"/>
            <a:ext cx="2560320" cy="68580"/>
          </a:xfrm>
          <a:prstGeom prst="rect">
            <a:avLst/>
          </a:prstGeom>
          <a:solidFill>
            <a:srgbClr val="5E88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38528" y="4261104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67712" y="4274820"/>
            <a:ext cx="2011680" cy="68580"/>
          </a:xfrm>
          <a:prstGeom prst="rect">
            <a:avLst/>
          </a:prstGeom>
          <a:solidFill>
            <a:srgbClr val="7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8528" y="447598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67712" y="4489704"/>
            <a:ext cx="3108960" cy="68580"/>
          </a:xfrm>
          <a:prstGeom prst="rect">
            <a:avLst/>
          </a:prstGeom>
          <a:solidFill>
            <a:srgbClr val="4E7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38528" y="4690872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 lang="ja-JP">
                <a:solidFill>
                  <a:srgbClr val="40566B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67712" y="4704588"/>
            <a:ext cx="1554480" cy="68580"/>
          </a:xfrm>
          <a:prstGeom prst="rect">
            <a:avLst/>
          </a:prstGeom>
          <a:solidFill>
            <a:srgbClr val="8BA0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31136" y="3703320"/>
            <a:ext cx="4160520" cy="228600"/>
          </a:xfrm>
          <a:prstGeom prst="rect">
            <a:avLst/>
          </a:prstGeom>
          <a:solidFill>
            <a:srgbClr val="1233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31136" y="3703320"/>
            <a:ext cx="41148" cy="228600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901952" y="5065776"/>
            <a:ext cx="4919472" cy="694944"/>
          </a:xfrm>
          <a:prstGeom prst="roundRect">
            <a:avLst>
              <a:gd name="adj" fmla="val 2000"/>
            </a:avLst>
          </a:prstGeom>
          <a:solidFill>
            <a:srgbClr val="111D2E"/>
          </a:solidFill>
          <a:ln w="9525">
            <a:solidFill>
              <a:srgbClr val="25384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29968" y="514807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ja-JP" spc="40">
                <a:solidFill>
                  <a:srgbClr val="FFC400"/>
                </a:solidFill>
                <a:latin typeface="Yu Gothic"/>
                <a:ea typeface="Yu Gothic"/>
                <a:cs typeface="Yu Gothic"/>
              </a:rPr>
              <a:t>ERROR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70048" y="5175504"/>
            <a:ext cx="3566160" cy="50292"/>
          </a:xfrm>
          <a:prstGeom prst="rect">
            <a:avLst/>
          </a:prstGeom>
          <a:solidFill>
            <a:srgbClr val="7C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70048" y="5321808"/>
            <a:ext cx="2560320" cy="50292"/>
          </a:xfrm>
          <a:prstGeom prst="rect">
            <a:avLst/>
          </a:prstGeom>
          <a:solidFill>
            <a:srgbClr val="6A5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70048" y="5468112"/>
            <a:ext cx="4023360" cy="50292"/>
          </a:xfrm>
          <a:prstGeom prst="rect">
            <a:avLst/>
          </a:prstGeom>
          <a:solidFill>
            <a:srgbClr val="4F62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493008" y="2761488"/>
            <a:ext cx="2999232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B9D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286207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開発補助AI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60720" y="2843784"/>
            <a:ext cx="566928" cy="228600"/>
          </a:xfrm>
          <a:prstGeom prst="roundRect">
            <a:avLst>
              <a:gd name="adj" fmla="val 50000"/>
            </a:avLst>
          </a:prstGeom>
          <a:solidFill>
            <a:srgbClr val="EAF4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720" y="2848356"/>
            <a:ext cx="56692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LOCAL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3191256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設計書との差分を確認して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353872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対象：設計書 / コード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0" y="3867912"/>
            <a:ext cx="2578608" cy="365760"/>
          </a:xfrm>
          <a:prstGeom prst="roundRect">
            <a:avLst>
              <a:gd name="adj" fmla="val 3000"/>
            </a:avLst>
          </a:prstGeom>
          <a:solidFill>
            <a:srgbClr val="F5F9FD"/>
          </a:solidFill>
          <a:ln w="9525">
            <a:solidFill>
              <a:srgbClr val="DCE8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85615" y="392277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質問を入力...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97880" y="3904487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15000" y="140817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UIイメージ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52944" y="1874519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 spc="5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操作は3ステップ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726679" y="2523744"/>
            <a:ext cx="0" cy="2093976"/>
          </a:xfrm>
          <a:prstGeom prst="line">
            <a:avLst/>
          </a:prstGeom>
          <a:ln w="16510">
            <a:solidFill>
              <a:srgbClr val="C9D9E7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7543800" y="2157984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43800" y="2221991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01583" y="2130552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呼び出す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01583" y="2468879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設定したショートカットで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AIを起動。</a:t>
            </a:r>
          </a:p>
        </p:txBody>
      </p:sp>
      <p:sp>
        <p:nvSpPr>
          <p:cNvPr id="77" name="Oval 76"/>
          <p:cNvSpPr/>
          <p:nvPr/>
        </p:nvSpPr>
        <p:spPr>
          <a:xfrm>
            <a:off x="7543800" y="3054096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3118103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01583" y="3026664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聞く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01583" y="3364991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設計書・規約・エラー出力を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対象に質問。</a:t>
            </a:r>
          </a:p>
        </p:txBody>
      </p:sp>
      <p:sp>
        <p:nvSpPr>
          <p:cNvPr id="81" name="Oval 80"/>
          <p:cNvSpPr/>
          <p:nvPr/>
        </p:nvSpPr>
        <p:spPr>
          <a:xfrm>
            <a:off x="7543800" y="3950208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43800" y="401421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01583" y="3922776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戻る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01583" y="4261104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回答を確認し、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そのまま実装を続ける。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52944" y="5010912"/>
            <a:ext cx="3749039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画面を切り替えず、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開発の流れを止めない。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52944" y="5797296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※画面は構成を示すイメージです。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02  ソリューション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アーキテクチャ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入力 → 処理 → 出力まで、ローカル環境内で完結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ja-JP" spc="3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ja-JP" spc="3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74336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ja-JP" spc="3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1883664"/>
            <a:ext cx="315468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5336" y="194767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ショートカット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2219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AIを呼び出す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98648" y="2569464"/>
            <a:ext cx="164592" cy="164592"/>
          </a:xfrm>
          <a:prstGeom prst="downArrow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1883664"/>
            <a:ext cx="315468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194767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設計書・規約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22219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RAGに登録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236208" y="2569464"/>
            <a:ext cx="164592" cy="164592"/>
          </a:xfrm>
          <a:prstGeom prst="downArrow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1883664"/>
            <a:ext cx="315468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194767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コード・エラー出力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2219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現在の開発画面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573767" y="2569464"/>
            <a:ext cx="164592" cy="164592"/>
          </a:xfrm>
          <a:prstGeom prst="downArrow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17320" y="2779776"/>
            <a:ext cx="9829800" cy="2157984"/>
          </a:xfrm>
          <a:prstGeom prst="roundRect">
            <a:avLst>
              <a:gd name="adj" fmla="val 2500"/>
            </a:avLst>
          </a:prstGeom>
          <a:solidFill>
            <a:srgbClr val="F5F9FD"/>
          </a:solidFill>
          <a:ln w="9525">
            <a:solidFill>
              <a:srgbClr val="DCE9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9344" y="3063240"/>
            <a:ext cx="2103120" cy="1133856"/>
          </a:xfrm>
          <a:prstGeom prst="roundRect">
            <a:avLst>
              <a:gd name="adj" fmla="val 4000"/>
            </a:avLst>
          </a:prstGeom>
          <a:solidFill>
            <a:srgbClr val="070F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55648" y="3200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Everywhere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3566160"/>
            <a:ext cx="1810512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AFC4D8"/>
                </a:solidFill>
                <a:latin typeface="Yu Gothic"/>
                <a:ea typeface="Yu Gothic"/>
                <a:cs typeface="Yu Gothic"/>
              </a:rPr>
              <a:t>起動・対話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AFC4D8"/>
                </a:solidFill>
                <a:latin typeface="Yu Gothic"/>
                <a:ea typeface="Yu Gothic"/>
                <a:cs typeface="Yu Gothic"/>
              </a:rPr>
              <a:t>モデル設定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2862072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推論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3063240"/>
            <a:ext cx="2084831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9D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314553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Local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2816" y="3392424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Ollama など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3739896"/>
            <a:ext cx="160020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9D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4528" y="379476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84048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ツール接続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9320" y="3063240"/>
            <a:ext cx="2944368" cy="113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9D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145536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RAGFlow on Docker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429000"/>
            <a:ext cx="26060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設計書・規約を検索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ベクトルDBに格納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2852928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検索・参照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12463" y="3355848"/>
            <a:ext cx="384049" cy="0"/>
          </a:xfrm>
          <a:prstGeom prst="line">
            <a:avLst/>
          </a:prstGeom>
          <a:ln w="13970">
            <a:solidFill>
              <a:srgbClr val="0072BC"/>
            </a:solidFill>
            <a:tailEnd type="triangle" w="sm" len="sm"/>
          </a:ln>
        </p:spPr>
      </p:cxnSp>
      <p:cxnSp>
        <p:nvCxnSpPr>
          <p:cNvPr id="41" name="Connector 40"/>
          <p:cNvCxnSpPr/>
          <p:nvPr/>
        </p:nvCxnSpPr>
        <p:spPr>
          <a:xfrm>
            <a:off x="3712463" y="3986784"/>
            <a:ext cx="384049" cy="0"/>
          </a:xfrm>
          <a:prstGeom prst="line">
            <a:avLst/>
          </a:prstGeom>
          <a:ln w="13970">
            <a:solidFill>
              <a:srgbClr val="0072BC"/>
            </a:solidFill>
            <a:tailEnd type="triangle" w="sm" len="sm"/>
          </a:ln>
        </p:spPr>
      </p:cxnSp>
      <p:cxnSp>
        <p:nvCxnSpPr>
          <p:cNvPr id="42" name="Connector 41"/>
          <p:cNvCxnSpPr/>
          <p:nvPr/>
        </p:nvCxnSpPr>
        <p:spPr>
          <a:xfrm>
            <a:off x="5715000" y="3986784"/>
            <a:ext cx="256032" cy="0"/>
          </a:xfrm>
          <a:prstGeom prst="line">
            <a:avLst/>
          </a:prstGeom>
          <a:ln w="13970">
            <a:solidFill>
              <a:srgbClr val="0072BC"/>
            </a:solidFill>
            <a:headEnd type="triangle" w="sm" len="sm"/>
            <a:tailEnd type="triangle" w="sm" len="sm"/>
          </a:ln>
        </p:spPr>
      </p:cxnSp>
      <p:sp>
        <p:nvSpPr>
          <p:cNvPr id="43" name="TextBox 42"/>
          <p:cNvSpPr txBox="1"/>
          <p:nvPr/>
        </p:nvSpPr>
        <p:spPr>
          <a:xfrm>
            <a:off x="1627632" y="4462272"/>
            <a:ext cx="9052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RAGFlowはオープンソース。ローカル環境で検索基盤として動作。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2898648" y="4956048"/>
            <a:ext cx="164592" cy="146304"/>
          </a:xfrm>
          <a:prstGeom prst="downArrow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417320" y="5120640"/>
            <a:ext cx="315468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45336" y="5184648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整合チェック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45336" y="546811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不一致点を確認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6236208" y="4956048"/>
            <a:ext cx="164592" cy="146304"/>
          </a:xfrm>
          <a:prstGeom prst="downArrow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54880" y="5120640"/>
            <a:ext cx="315468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82896" y="5184648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実装方針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82896" y="546811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規約に沿った案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9573767" y="4956048"/>
            <a:ext cx="164592" cy="146304"/>
          </a:xfrm>
          <a:prstGeom prst="downArrow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92440" y="5120640"/>
            <a:ext cx="315468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0456" y="5184648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原因候補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0456" y="546811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修正方針を提示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17320" y="5888736"/>
            <a:ext cx="9829800" cy="402336"/>
          </a:xfrm>
          <a:prstGeom prst="roundRect">
            <a:avLst>
              <a:gd name="adj" fmla="val 2000"/>
            </a:avLst>
          </a:prstGeom>
          <a:solidFill>
            <a:srgbClr val="FFF8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417320" y="5888736"/>
            <a:ext cx="54864" cy="402336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91056" y="5943600"/>
            <a:ext cx="9418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設計方針：設計書・規約・コード・エラー出力はローカルに保持し、クラウドへアップロードしない。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03  機能①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設計書と規約を、回答の根拠にする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コードを書く前の判断を、社内ファイルで揃える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 spc="3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  設計書との整合チェック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96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実装が設計書の意図と合うか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615184"/>
            <a:ext cx="5074920" cy="0"/>
          </a:xfrm>
          <a:prstGeom prst="line">
            <a:avLst/>
          </a:prstGeom>
          <a:ln w="12700">
            <a:solidFill>
              <a:srgbClr val="C9D9E7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685800" y="2761488"/>
            <a:ext cx="5074920" cy="822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61488"/>
            <a:ext cx="548640" cy="822960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00837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2962656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 + 対象コード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45536" y="3621024"/>
            <a:ext cx="146304" cy="146304"/>
          </a:xfrm>
          <a:prstGeom prst="downArrow">
            <a:avLst/>
          </a:prstGeom>
          <a:solidFill>
            <a:srgbClr val="9FC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730752"/>
            <a:ext cx="5074920" cy="822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30752"/>
            <a:ext cx="548640" cy="822960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397763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931920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設計書を検索 → LLMで比較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145536" y="4590288"/>
            <a:ext cx="146304" cy="146304"/>
          </a:xfrm>
          <a:prstGeom prst="downArrow">
            <a:avLst/>
          </a:prstGeom>
          <a:solidFill>
            <a:srgbClr val="9FC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00016"/>
            <a:ext cx="5074920" cy="822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700016"/>
            <a:ext cx="548640" cy="822960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4946904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出力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4901184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不一致点 / 確認事項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1847088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 spc="3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02  規約に沿った実装支援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1396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規約に沿った書き方か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53912" y="2615184"/>
            <a:ext cx="5074920" cy="0"/>
          </a:xfrm>
          <a:prstGeom prst="line">
            <a:avLst/>
          </a:prstGeom>
          <a:ln w="12700">
            <a:solidFill>
              <a:srgbClr val="C9D9E7"/>
            </a:solidFill>
          </a:ln>
        </p:spPr>
      </p:cxnSp>
      <p:sp>
        <p:nvSpPr>
          <p:cNvPr id="30" name="Rounded Rectangle 29"/>
          <p:cNvSpPr/>
          <p:nvPr/>
        </p:nvSpPr>
        <p:spPr>
          <a:xfrm>
            <a:off x="6153912" y="2761488"/>
            <a:ext cx="5074920" cy="822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2761488"/>
            <a:ext cx="548640" cy="822960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00837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2962656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規約ファイル + 質問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613648" y="3621024"/>
            <a:ext cx="146304" cy="146304"/>
          </a:xfrm>
          <a:prstGeom prst="downArrow">
            <a:avLst/>
          </a:prstGeom>
          <a:solidFill>
            <a:srgbClr val="9FC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3730752"/>
            <a:ext cx="5074920" cy="822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730752"/>
            <a:ext cx="548640" cy="822960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0488" y="397763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3931920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規約を検索 → LLMで回答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8613648" y="4590288"/>
            <a:ext cx="146304" cy="146304"/>
          </a:xfrm>
          <a:prstGeom prst="downArrow">
            <a:avLst/>
          </a:prstGeom>
          <a:solidFill>
            <a:srgbClr val="9FC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53912" y="4700016"/>
            <a:ext cx="5074920" cy="822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53912" y="4700016"/>
            <a:ext cx="548640" cy="822960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0488" y="4946904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出力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4901184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実装方針 / 注意点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7424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共通して、RAGに登録した設計書・規約を検索し、回答に反映します。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071616"/>
            <a:ext cx="10789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会話ごとに全文を貼り付けるのではなく、社内ファイルを参照する運用を想定しています。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03  機能②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エラーと設計変更を、同じ導線で扱う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開発中の割り込みと、設計書の更新を分けない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 spc="3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03  エラー出力の即時解析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96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いま出ているエラーを解消する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615184"/>
            <a:ext cx="5074920" cy="0"/>
          </a:xfrm>
          <a:prstGeom prst="line">
            <a:avLst/>
          </a:prstGeom>
          <a:ln w="12700">
            <a:solidFill>
              <a:srgbClr val="C9D9E7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685800" y="2761488"/>
            <a:ext cx="5074920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61488"/>
            <a:ext cx="548640" cy="859536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026664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2907792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現在のエディタ +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バックグラウンドのエラー出力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45536" y="3657600"/>
            <a:ext cx="146304" cy="146304"/>
          </a:xfrm>
          <a:prstGeom prst="downArrow">
            <a:avLst/>
          </a:prstGeom>
          <a:solidFill>
            <a:srgbClr val="9FC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730752"/>
            <a:ext cx="5074920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30752"/>
            <a:ext cx="548640" cy="859536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39959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877056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ショートカットで起動 → MCP経由で取得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145536" y="4626864"/>
            <a:ext cx="146304" cy="146304"/>
          </a:xfrm>
          <a:prstGeom prst="downArrow">
            <a:avLst/>
          </a:prstGeom>
          <a:solidFill>
            <a:srgbClr val="9FC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00016"/>
            <a:ext cx="5074920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700016"/>
            <a:ext cx="548640" cy="859536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4965192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出力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4846320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原因候補 / 修正方針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1847088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 spc="3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04  設計書更新への追随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1396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最新の設計書にコードを合わせる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53912" y="2615184"/>
            <a:ext cx="5074920" cy="0"/>
          </a:xfrm>
          <a:prstGeom prst="line">
            <a:avLst/>
          </a:prstGeom>
          <a:ln w="12700">
            <a:solidFill>
              <a:srgbClr val="C9D9E7"/>
            </a:solidFill>
          </a:ln>
        </p:spPr>
      </p:cxnSp>
      <p:sp>
        <p:nvSpPr>
          <p:cNvPr id="30" name="Rounded Rectangle 29"/>
          <p:cNvSpPr/>
          <p:nvPr/>
        </p:nvSpPr>
        <p:spPr>
          <a:xfrm>
            <a:off x="6153912" y="2761488"/>
            <a:ext cx="5074920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2761488"/>
            <a:ext cx="548640" cy="859536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026664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2907792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更新された設計書（版管理）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613648" y="3657600"/>
            <a:ext cx="146304" cy="146304"/>
          </a:xfrm>
          <a:prstGeom prst="downArrow">
            <a:avLst/>
          </a:prstGeom>
          <a:solidFill>
            <a:srgbClr val="9FC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3730752"/>
            <a:ext cx="5074920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730752"/>
            <a:ext cx="548640" cy="859536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0488" y="39959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3877056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RAGで最新版を検索 → コードと比較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8613648" y="4626864"/>
            <a:ext cx="146304" cy="146304"/>
          </a:xfrm>
          <a:prstGeom prst="downArrow">
            <a:avLst/>
          </a:prstGeom>
          <a:solidFill>
            <a:srgbClr val="9FC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53912" y="4700016"/>
            <a:ext cx="5074920" cy="859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53912" y="4700016"/>
            <a:ext cx="548640" cy="859536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0488" y="4965192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出力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4846320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修正箇所 / 修正方針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742432"/>
            <a:ext cx="10789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エラー対応と設計変更を、別のツールに分けない。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099048"/>
            <a:ext cx="10789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同じショートカットから、必要な情報を参照できます。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04  セキュリティ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ローカル完結の設計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外部クラウドへのアップロードを前提にしない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10512"/>
            <a:ext cx="5074920" cy="3986784"/>
          </a:xfrm>
          <a:prstGeom prst="roundRect">
            <a:avLst>
              <a:gd name="adj" fmla="val 3000"/>
            </a:avLst>
          </a:prstGeom>
          <a:solidFill>
            <a:srgbClr val="070F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5681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 spc="90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LOCAL ENVIRONMENT</a:t>
            </a:r>
          </a:p>
        </p:txBody>
      </p:sp>
      <p:sp>
        <p:nvSpPr>
          <p:cNvPr id="12" name="Oval 11"/>
          <p:cNvSpPr/>
          <p:nvPr/>
        </p:nvSpPr>
        <p:spPr>
          <a:xfrm>
            <a:off x="1847088" y="2505456"/>
            <a:ext cx="2743200" cy="2743200"/>
          </a:xfrm>
          <a:prstGeom prst="ellipse">
            <a:avLst/>
          </a:prstGeom>
          <a:noFill/>
          <a:ln w="11430">
            <a:solidFill>
              <a:srgbClr val="1C44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12848" y="2871216"/>
            <a:ext cx="2011680" cy="2011680"/>
          </a:xfrm>
          <a:prstGeom prst="ellipse">
            <a:avLst/>
          </a:prstGeom>
          <a:noFill/>
          <a:ln w="11430">
            <a:solidFill>
              <a:srgbClr val="2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60320" y="3218688"/>
            <a:ext cx="1316736" cy="1316736"/>
          </a:xfrm>
          <a:prstGeom prst="ellipse">
            <a:avLst/>
          </a:prstGeom>
          <a:solidFill>
            <a:srgbClr val="0B2340"/>
          </a:solidFill>
          <a:ln w="13970">
            <a:solidFill>
              <a:srgbClr val="3C8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639312"/>
            <a:ext cx="13167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4164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>
                <a:solidFill>
                  <a:srgbClr val="AFC4D8"/>
                </a:solidFill>
                <a:latin typeface="Yu Gothic"/>
                <a:ea typeface="Yu Gothic"/>
                <a:cs typeface="Yu Gothic"/>
              </a:rPr>
              <a:t>ローカル環境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2688336"/>
            <a:ext cx="1042415" cy="292608"/>
          </a:xfrm>
          <a:prstGeom prst="roundRect">
            <a:avLst>
              <a:gd name="adj" fmla="val 50000"/>
            </a:avLst>
          </a:prstGeom>
          <a:solidFill>
            <a:srgbClr val="102A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692908"/>
            <a:ext cx="1042415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設計書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984" y="2688336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102A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4" y="2692908"/>
            <a:ext cx="932688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LLM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407408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02A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4411980"/>
            <a:ext cx="1298448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RAGFlow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10235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設計書・規約・コード・エラー出力を、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この環境の外に出さない。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184708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801368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ローカル保存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4" y="2176272"/>
            <a:ext cx="457200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設計書・規約・コード・エラー出力は、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ローカルに保持。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99632" y="2779776"/>
            <a:ext cx="5102352" cy="0"/>
          </a:xfrm>
          <a:prstGeom prst="line">
            <a:avLst/>
          </a:prstGeom>
          <a:ln w="7620">
            <a:solidFill>
              <a:srgbClr val="DDE3EA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199632" y="288950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9984" y="2843784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ローカル推論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3218688"/>
            <a:ext cx="457200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Ollamaなどのローカルモデルを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Everywhereに設定。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99632" y="3822191"/>
            <a:ext cx="5102352" cy="0"/>
          </a:xfrm>
          <a:prstGeom prst="line">
            <a:avLst/>
          </a:prstGeom>
          <a:ln w="7620">
            <a:solidFill>
              <a:srgbClr val="DDE3EA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199632" y="3931920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ja-JP">
                <a:solidFill>
                  <a:srgbClr val="E8A13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3886200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ローカル検索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4261104"/>
            <a:ext cx="457200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RAGFlowをDockerで起動し、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設計書を検索。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5065776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Everywhereのモデル設定には、ローカルモデルのURLを指定します。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5431536"/>
            <a:ext cx="507492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設計方針として、外部クラウドへのアップロードを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行わない構成にしています。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05  デモ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4つの支援を、一続きの開発フローで確認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起動から設計変更の反映まで、同じ導線でたどる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47088"/>
            <a:ext cx="2560320" cy="2999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1865376"/>
            <a:ext cx="2286000" cy="0"/>
          </a:xfrm>
          <a:prstGeom prst="line">
            <a:avLst/>
          </a:prstGeom>
          <a:ln w="27940">
            <a:solidFill>
              <a:srgbClr val="0072B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50392" y="1965960"/>
            <a:ext cx="43891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49424"/>
            <a:ext cx="2240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呼び出す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2761488"/>
            <a:ext cx="2231136" cy="12984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2245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ショートカットで起動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847088"/>
            <a:ext cx="2560320" cy="2999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566160" y="1865376"/>
            <a:ext cx="2286000" cy="0"/>
          </a:xfrm>
          <a:prstGeom prst="line">
            <a:avLst/>
          </a:prstGeom>
          <a:ln w="27940">
            <a:solidFill>
              <a:srgbClr val="19A3F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593592" y="1965960"/>
            <a:ext cx="43891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249424"/>
            <a:ext cx="2240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設計書を確認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93592" y="2761488"/>
            <a:ext cx="2231136" cy="12984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42245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設計書との差分を質問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847088"/>
            <a:ext cx="2560320" cy="2999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309360" y="1865376"/>
            <a:ext cx="2286000" cy="0"/>
          </a:xfrm>
          <a:prstGeom prst="line">
            <a:avLst/>
          </a:prstGeom>
          <a:ln w="27940">
            <a:solidFill>
              <a:srgbClr val="E8A13B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336792" y="1965960"/>
            <a:ext cx="43891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E8A13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249424"/>
            <a:ext cx="2240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エラーを解析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761488"/>
            <a:ext cx="2231136" cy="12984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2245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エラー出力を読み取る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1847088"/>
            <a:ext cx="2560320" cy="2999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052560" y="1865376"/>
            <a:ext cx="2286000" cy="0"/>
          </a:xfrm>
          <a:prstGeom prst="line">
            <a:avLst/>
          </a:prstGeom>
          <a:ln w="27940">
            <a:solidFill>
              <a:srgbClr val="005B96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079992" y="1965960"/>
            <a:ext cx="43891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ja-JP">
                <a:solidFill>
                  <a:srgbClr val="005B96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2249424"/>
            <a:ext cx="22402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設計変更を反映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9992" y="2761488"/>
            <a:ext cx="2231136" cy="12984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42245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最新版の設計書を参照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17904" y="2999232"/>
            <a:ext cx="859536" cy="749808"/>
          </a:xfrm>
          <a:prstGeom prst="roundRect">
            <a:avLst>
              <a:gd name="adj" fmla="val 10000"/>
            </a:avLst>
          </a:prstGeom>
          <a:solidFill>
            <a:srgbClr val="070F26"/>
          </a:solidFill>
          <a:ln w="9525">
            <a:solidFill>
              <a:srgbClr val="2B6E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17904" y="3118104"/>
            <a:ext cx="8595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7864" y="3767328"/>
            <a:ext cx="153619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lang="ja-JP" spc="8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SHORTCUT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67912" y="2944368"/>
            <a:ext cx="749808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9FC4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32504" y="2834640"/>
            <a:ext cx="749808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0072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160520" y="3017520"/>
            <a:ext cx="438912" cy="0"/>
          </a:xfrm>
          <a:prstGeom prst="line">
            <a:avLst/>
          </a:prstGeom>
          <a:ln w="20320">
            <a:solidFill>
              <a:srgbClr val="B9CBD9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4160520" y="3154679"/>
            <a:ext cx="438912" cy="0"/>
          </a:xfrm>
          <a:prstGeom prst="line">
            <a:avLst/>
          </a:prstGeom>
          <a:ln w="20320">
            <a:solidFill>
              <a:srgbClr val="B9CBD9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4160520" y="3291839"/>
            <a:ext cx="438912" cy="0"/>
          </a:xfrm>
          <a:prstGeom prst="line">
            <a:avLst/>
          </a:prstGeom>
          <a:ln w="20320">
            <a:solidFill>
              <a:srgbClr val="B9CBD9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4160520" y="3429000"/>
            <a:ext cx="438912" cy="0"/>
          </a:xfrm>
          <a:prstGeom prst="line">
            <a:avLst/>
          </a:prstGeom>
          <a:ln w="20320">
            <a:solidFill>
              <a:srgbClr val="B9CBD9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4919472" y="3218688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72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166360" y="3493008"/>
            <a:ext cx="210312" cy="201168"/>
          </a:xfrm>
          <a:prstGeom prst="line">
            <a:avLst/>
          </a:prstGeom>
          <a:ln w="22860">
            <a:solidFill>
              <a:srgbClr val="0072BC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4818888" y="3739896"/>
            <a:ext cx="71323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ja-JP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照合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01383" y="2889504"/>
            <a:ext cx="1901952" cy="1005840"/>
          </a:xfrm>
          <a:prstGeom prst="roundRect">
            <a:avLst>
              <a:gd name="adj" fmla="val 2000"/>
            </a:avLst>
          </a:prstGeom>
          <a:solidFill>
            <a:srgbClr val="101A2A"/>
          </a:solidFill>
          <a:ln w="9525">
            <a:solidFill>
              <a:srgbClr val="25384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1112" y="295351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lang="ja-JP" spc="30">
                <a:solidFill>
                  <a:srgbClr val="FFC400"/>
                </a:solidFill>
                <a:latin typeface="Yu Gothic"/>
                <a:ea typeface="Yu Gothic"/>
                <a:cs typeface="Yu Gothic"/>
              </a:rPr>
              <a:t>ERROR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11112" y="3182112"/>
            <a:ext cx="1143000" cy="45720"/>
          </a:xfrm>
          <a:prstGeom prst="rect">
            <a:avLst/>
          </a:prstGeom>
          <a:solidFill>
            <a:srgbClr val="7C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11112" y="3364992"/>
            <a:ext cx="868680" cy="45720"/>
          </a:xfrm>
          <a:prstGeom prst="rect">
            <a:avLst/>
          </a:prstGeom>
          <a:solidFill>
            <a:srgbClr val="6A5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11112" y="3547872"/>
            <a:ext cx="1417320" cy="45720"/>
          </a:xfrm>
          <a:prstGeom prst="rect">
            <a:avLst/>
          </a:prstGeom>
          <a:solidFill>
            <a:srgbClr val="4F62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918704" y="3456432"/>
            <a:ext cx="301752" cy="30175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72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8138160" y="3675887"/>
            <a:ext cx="192023" cy="182881"/>
          </a:xfrm>
          <a:prstGeom prst="line">
            <a:avLst/>
          </a:prstGeom>
          <a:ln w="21590">
            <a:solidFill>
              <a:srgbClr val="0072BC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9244584" y="2944368"/>
            <a:ext cx="786384" cy="9509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9FC4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537192" y="2834640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37192" y="2839212"/>
            <a:ext cx="38404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363456" y="3108960"/>
            <a:ext cx="512063" cy="0"/>
          </a:xfrm>
          <a:prstGeom prst="line">
            <a:avLst/>
          </a:prstGeom>
          <a:ln w="20320">
            <a:solidFill>
              <a:srgbClr val="B9CBD9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9363456" y="3246120"/>
            <a:ext cx="512063" cy="0"/>
          </a:xfrm>
          <a:prstGeom prst="line">
            <a:avLst/>
          </a:prstGeom>
          <a:ln w="20320">
            <a:solidFill>
              <a:srgbClr val="B9CBD9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9363456" y="3383279"/>
            <a:ext cx="512063" cy="0"/>
          </a:xfrm>
          <a:prstGeom prst="line">
            <a:avLst/>
          </a:prstGeom>
          <a:ln w="20320">
            <a:solidFill>
              <a:srgbClr val="B9CBD9"/>
            </a:solidFill>
          </a:ln>
        </p:spPr>
      </p:cxnSp>
      <p:cxnSp>
        <p:nvCxnSpPr>
          <p:cNvPr id="59" name="Connector 58"/>
          <p:cNvCxnSpPr/>
          <p:nvPr/>
        </p:nvCxnSpPr>
        <p:spPr>
          <a:xfrm>
            <a:off x="9363456" y="3520439"/>
            <a:ext cx="512063" cy="0"/>
          </a:xfrm>
          <a:prstGeom prst="line">
            <a:avLst/>
          </a:prstGeom>
          <a:ln w="20320">
            <a:solidFill>
              <a:srgbClr val="B9CBD9"/>
            </a:solidFill>
          </a:ln>
        </p:spPr>
      </p:cxnSp>
      <p:cxnSp>
        <p:nvCxnSpPr>
          <p:cNvPr id="60" name="Connector 59"/>
          <p:cNvCxnSpPr/>
          <p:nvPr/>
        </p:nvCxnSpPr>
        <p:spPr>
          <a:xfrm>
            <a:off x="10085832" y="3419856"/>
            <a:ext cx="384048" cy="0"/>
          </a:xfrm>
          <a:prstGeom prst="line">
            <a:avLst/>
          </a:prstGeom>
          <a:ln w="15240">
            <a:solidFill>
              <a:srgbClr val="0072BC"/>
            </a:solidFill>
            <a:tailEnd type="triangle" w="sm" len="sm"/>
          </a:ln>
        </p:spPr>
      </p:cxnSp>
      <p:sp>
        <p:nvSpPr>
          <p:cNvPr id="61" name="TextBox 60"/>
          <p:cNvSpPr txBox="1"/>
          <p:nvPr/>
        </p:nvSpPr>
        <p:spPr>
          <a:xfrm>
            <a:off x="10415016" y="316382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ja-JP" spc="1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&lt;/&gt;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5102352"/>
            <a:ext cx="107899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4つの機能は、別々の操作ではなく、一つの開発フローでつながります。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6692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画面は構成を示すイメージです。実際の操作はデモでご確認ください。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4008" cy="621792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7490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 lang="ja-JP" spc="60">
                <a:solidFill>
                  <a:srgbClr val="0072BC"/>
                </a:solidFill>
                <a:latin typeface="Yu Gothic"/>
                <a:ea typeface="Yu Gothic"/>
                <a:cs typeface="Yu Gothic"/>
              </a:rPr>
              <a:t>06  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12648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070F26"/>
                </a:solidFill>
                <a:latin typeface="Yu Gothic"/>
                <a:ea typeface="Yu Gothic"/>
                <a:cs typeface="Yu Gothic"/>
              </a:rPr>
              <a:t>評価設計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34440"/>
            <a:ext cx="10698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ベースラインを置き、4つの機能を同じ条件で比較する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19072"/>
            <a:ext cx="10872216" cy="0"/>
          </a:xfrm>
          <a:prstGeom prst="line">
            <a:avLst/>
          </a:prstGeom>
          <a:ln w="10160">
            <a:solidFill>
              <a:srgbClr val="DDE3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890">
            <a:solidFill>
              <a:srgbClr val="DDE3E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58368" y="651052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510528"/>
            <a:ext cx="26609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ja-JP">
                <a:solidFill>
                  <a:srgbClr val="949494"/>
                </a:solidFill>
                <a:latin typeface="Yu Gothic"/>
                <a:ea typeface="Yu Gothic"/>
                <a:cs typeface="Yu Gothic"/>
              </a:rPr>
              <a:t>開発補助AI  /  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828800"/>
          <a:ext cx="1084478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/>
                <a:gridCol w="2999232"/>
                <a:gridCol w="3127248"/>
                <a:gridCol w="2615184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評価軸</a:t>
                      </a:r>
                    </a:p>
                  </a:txBody>
                  <a:tcPr anchor="ctr" marL="109728" marR="91440" marT="36576" marB="36576">
                    <a:solidFill>
                      <a:srgbClr val="070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ベースライン（本ツールなし）</a:t>
                      </a:r>
                    </a:p>
                  </a:txBody>
                  <a:tcPr anchor="ctr" marL="109728" marR="91440" marT="36576" marB="36576">
                    <a:solidFill>
                      <a:srgbClr val="070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本ツール</a:t>
                      </a:r>
                    </a:p>
                  </a:txBody>
                  <a:tcPr anchor="ctr" marL="109728" marR="91440" marT="36576" marB="36576">
                    <a:solidFill>
                      <a:srgbClr val="070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測定指標</a:t>
                      </a:r>
                    </a:p>
                  </a:txBody>
                  <a:tcPr anchor="ctr" marL="109728" marR="91440" marT="36576" marB="36576">
                    <a:solidFill>
                      <a:srgbClr val="070F2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ja-JP">
                          <a:solidFill>
                            <a:srgbClr val="070F26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設計書との整合</a:t>
                      </a:r>
                    </a:p>
                  </a:txBody>
                  <a:tcPr anchor="ctr" marL="109728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現行プロセスで照合</a:t>
                      </a:r>
                    </a:p>
                  </a:txBody>
                  <a:tcPr anchor="ctr" marL="109728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RAG検索 + LLMで確認</a:t>
                      </a:r>
                    </a:p>
                  </a:txBody>
                  <a:tcPr anchor="ctr" marL="109728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確認時間 / 見落とし件数</a:t>
                      </a:r>
                    </a:p>
                  </a:txBody>
                  <a:tcPr anchor="ctr" marL="109728" marR="91440" marT="36576" marB="36576">
                    <a:solidFill>
                      <a:srgbClr val="F5F9FD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ja-JP">
                          <a:solidFill>
                            <a:srgbClr val="070F26"/>
                          </a:solidFill>
                          <a:latin typeface="Yu Gothic"/>
                          <a:ea typeface="Yu Gothic"/>
                          <a:cs typeface="Yu Gothic"/>
                        </a:rPr>
                        <a:t>規約遵守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現行プロセスで規約を参照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規約ファイルをRAGで検索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参照時間 / 規約違反の検出数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ja-JP">
                          <a:solidFill>
                            <a:srgbClr val="070F26"/>
                          </a:solidFill>
                          <a:latin typeface="Yu Gothic"/>
                          <a:ea typeface="Yu Gothic"/>
                          <a:cs typeface="Yu Gothic"/>
                        </a:rPr>
                        <a:t>エラー解析</a:t>
                      </a:r>
                    </a:p>
                  </a:txBody>
                  <a:tcPr anchor="ctr" marL="109728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現行プロセスでログを調査</a:t>
                      </a:r>
                    </a:p>
                  </a:txBody>
                  <a:tcPr anchor="ctr" marL="109728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エディタとエラー出力をAIで解析</a:t>
                      </a:r>
                    </a:p>
                  </a:txBody>
                  <a:tcPr anchor="ctr" marL="109728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原因特定までの時間</a:t>
                      </a:r>
                    </a:p>
                  </a:txBody>
                  <a:tcPr anchor="ctr" marL="109728" marR="91440" marT="36576" marB="36576">
                    <a:solidFill>
                      <a:srgbClr val="F5F9FD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ja-JP">
                          <a:solidFill>
                            <a:srgbClr val="070F26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設計変更への追随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現行プロセスで更新を反映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最新版をRAGで検索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 i="0" lang="ja-JP">
                          <a:solidFill>
                            <a:srgbClr val="16213A"/>
                          </a:solidFill>
                          <a:latin typeface="Yu Gothic"/>
                          <a:ea typeface="Yu Gothic"/>
                          <a:cs typeface="Yu Gothic"/>
                        </a:rPr>
                        <a:t>反映時間 / 修正漏れ件数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685800" y="1847088"/>
            <a:ext cx="10844784" cy="0"/>
          </a:xfrm>
          <a:prstGeom prst="line">
            <a:avLst/>
          </a:prstGeom>
          <a:ln w="13970">
            <a:solidFill>
              <a:srgbClr val="070F26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85800" y="5870448"/>
            <a:ext cx="10844784" cy="0"/>
          </a:xfrm>
          <a:prstGeom prst="line">
            <a:avLst/>
          </a:prstGeom>
          <a:ln w="11430">
            <a:solidFill>
              <a:srgbClr val="C9D9E7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85800" y="5971032"/>
            <a:ext cx="107899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現時点では定量結果は未取得です。測定後、ベースライン（グレー）と本ツール（ブルー）の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>
                <a:solidFill>
                  <a:srgbClr val="667493"/>
                </a:solidFill>
                <a:latin typeface="Yu Gothic"/>
                <a:ea typeface="Yu Gothic"/>
                <a:cs typeface="Yu Gothic"/>
              </a:rPr>
              <a:t>比較棒グラフで示し、改善幅はアクセント色で強調します。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859536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950976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5715">
            <a:solidFill>
              <a:srgbClr val="10243D"/>
            </a:solidFill>
          </a:ln>
        </p:spPr>
      </p:cxnSp>
      <p:sp>
        <p:nvSpPr>
          <p:cNvPr id="7" name="Oval 6"/>
          <p:cNvSpPr/>
          <p:nvPr/>
        </p:nvSpPr>
        <p:spPr>
          <a:xfrm>
            <a:off x="7882127" y="841248"/>
            <a:ext cx="3474720" cy="3474720"/>
          </a:xfrm>
          <a:prstGeom prst="ellipse">
            <a:avLst/>
          </a:prstGeom>
          <a:noFill/>
          <a:ln w="11430">
            <a:solidFill>
              <a:srgbClr val="173A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1389888"/>
            <a:ext cx="2377440" cy="2377440"/>
          </a:xfrm>
          <a:prstGeom prst="ellipse">
            <a:avLst/>
          </a:prstGeom>
          <a:noFill/>
          <a:ln w="11430">
            <a:solidFill>
              <a:srgbClr val="1E4E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5984" y="1975104"/>
            <a:ext cx="1207008" cy="1207008"/>
          </a:xfrm>
          <a:prstGeom prst="roundRect">
            <a:avLst>
              <a:gd name="adj" fmla="val 13000"/>
            </a:avLst>
          </a:prstGeom>
          <a:solidFill>
            <a:srgbClr val="0B1D38"/>
          </a:solidFill>
          <a:ln w="12700">
            <a:solidFill>
              <a:srgbClr val="3B7D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15984" y="2103120"/>
            <a:ext cx="1207008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2816352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lang="ja-JP" spc="110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768096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lang="ja-JP" spc="110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097280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181051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開発の判断を、社内情報とローカル環境で支える。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" y="2331720"/>
            <a:ext cx="5477256" cy="0"/>
          </a:xfrm>
          <a:prstGeom prst="line">
            <a:avLst/>
          </a:prstGeom>
          <a:ln w="11430">
            <a:solidFill>
              <a:srgbClr val="2A4A68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86384" y="2606040"/>
            <a:ext cx="43891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lang="ja-JP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25694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導線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2587752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ショートカットから、開発画面を離れずにAIへ。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" y="3291840"/>
            <a:ext cx="5477256" cy="0"/>
          </a:xfrm>
          <a:prstGeom prst="line">
            <a:avLst/>
          </a:prstGeom>
          <a:ln w="8890">
            <a:solidFill>
              <a:srgbClr val="17324E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86384" y="3502152"/>
            <a:ext cx="43891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lang="ja-JP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346557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根拠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3483864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設計書・規約をRAGで検索し、回答に反映。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384" y="4187952"/>
            <a:ext cx="5477256" cy="0"/>
          </a:xfrm>
          <a:prstGeom prst="line">
            <a:avLst/>
          </a:prstGeom>
          <a:ln w="8890">
            <a:solidFill>
              <a:srgbClr val="17324E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786384" y="4398264"/>
            <a:ext cx="43891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lang="ja-JP">
                <a:solidFill>
                  <a:srgbClr val="19A3F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436168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安全性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4379976"/>
            <a:ext cx="41605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ja-JP">
                <a:solidFill>
                  <a:srgbClr val="C7D9EA"/>
                </a:solidFill>
                <a:latin typeface="Yu Gothic"/>
                <a:ea typeface="Yu Gothic"/>
                <a:cs typeface="Yu Gothic"/>
              </a:rPr>
              <a:t>ローカルモデルとローカル検索で、外部送信を避ける。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384" y="5084064"/>
            <a:ext cx="5477256" cy="0"/>
          </a:xfrm>
          <a:prstGeom prst="line">
            <a:avLst/>
          </a:prstGeom>
          <a:ln w="8890">
            <a:solidFill>
              <a:srgbClr val="17324E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86384" y="5285232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設計書とコードの距離を、AIで縮める。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>
                <a:solidFill>
                  <a:srgbClr val="AFC4D8"/>
                </a:solidFill>
                <a:latin typeface="Yu Gothic"/>
                <a:ea typeface="Yu Gothic"/>
                <a:cs typeface="Yu Gothic"/>
              </a:rPr>
              <a:t>ご清聴ありがとうございました。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6355080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>
                <a:solidFill>
                  <a:srgbClr val="6E8AA2"/>
                </a:solidFill>
                <a:latin typeface="Yu Gothic"/>
                <a:ea typeface="Yu Gothic"/>
                <a:cs typeface="Yu Gothic"/>
              </a:rPr>
              <a:t>NTT DATA 通信軟件工程（大連）有限公司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291072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ja-JP">
                <a:solidFill>
                  <a:srgbClr val="5A7894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